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54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32047"/>
          </a:solidFill>
          <a:ln w="12700">
            <a:solidFill>
              <a:srgbClr val="132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804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DEVTrails 2026 · Unicorn Chase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GigInsura</a:t>
            </a:r>
            <a:endParaRPr lang="en-US" sz="6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109728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work stops,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income doesn't.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Parametric · Micro-Insurance · UPI Payouts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65760"/>
            <a:ext cx="1463040" cy="14630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594360"/>
            <a:ext cx="1097280" cy="6400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2880"/>
            <a:ext cx="1280160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1554480"/>
            <a:ext cx="0" cy="54864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0" y="2194560"/>
            <a:ext cx="3383280" cy="1645920"/>
          </a:xfrm>
          <a:prstGeom prst="rect">
            <a:avLst/>
          </a:prstGeom>
          <a:solidFill>
            <a:srgbClr val="0D2A5E"/>
          </a:solidFill>
          <a:ln w="12700">
            <a:solidFill>
              <a:srgbClr val="00BFA5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2194560"/>
            <a:ext cx="33832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7784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PROCESSED ✓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57784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₹400</a:t>
            </a:r>
            <a:endParaRPr lang="en-US" sz="4400" dirty="0"/>
          </a:p>
        </p:txBody>
      </p:sp>
      <p:sp>
        <p:nvSpPr>
          <p:cNvPr id="19" name="Text 15"/>
          <p:cNvSpPr/>
          <p:nvPr/>
        </p:nvSpPr>
        <p:spPr>
          <a:xfrm>
            <a:off x="557784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Triggered: Rainfall &gt; 50mm/hr · Instant UPI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66928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Cr+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9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 Workers.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9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Safety Net.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BACKBONE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Reality of India's Delivery Economy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01168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173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Cr+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6576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50592" y="12801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280160"/>
            <a:ext cx="201168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4173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42032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by workers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26864" y="12801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280160"/>
            <a:ext cx="201168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4173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18304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4718304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03136" y="12801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280160"/>
            <a:ext cx="201168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41732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94576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20-30%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894576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earnings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disruptions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32047"/>
          </a:solidFill>
          <a:ln w="12700">
            <a:solidFill>
              <a:srgbClr val="13204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3749040"/>
            <a:ext cx="91440" cy="10972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" y="38404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"Extreme weather, AQI spikes, and civic curfews can wipe out a gig worker's daily wages instantly — with zero recourse."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Insurance Failed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10058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Rigid Pricing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75564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Annual/monthly upfront premiums a ₹10K/month worker simply cannot afford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68880"/>
            <a:ext cx="109728" cy="10058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Paperwork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6304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forms + 14-day wait when they need groceries today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657600"/>
            <a:ext cx="109728" cy="10058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767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Coverage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463040" y="41330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accident plans ignore income loss due to environmental disruptions entirely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 crore workers left completely exposed every single working day.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Parametric Income Protection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463040"/>
            <a:ext cx="914400" cy="914400"/>
          </a:xfrm>
          <a:prstGeom prst="ellipse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002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Parametric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forms ever. Trigger events (rain, AQI) automatically issue payouts — zero manual steps.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69080" y="1463040"/>
            <a:ext cx="914400" cy="914400"/>
          </a:xfrm>
          <a:prstGeom prst="ellipse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002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3756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subscriptions from ₹15/week, aligned with how gig workers actually get paid.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002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1792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to bank account in minutes via smart contracts &amp; UPI instant transfer.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is the oracle. No human in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Zero-Touch Claim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Subscribe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picks Basic / Standard / Pro plan (₹15–₹50/week)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12848" y="2697480"/>
            <a:ext cx="219456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14016" y="2633472"/>
            <a:ext cx="64008" cy="12801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1280160"/>
            <a:ext cx="192024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53512" y="137160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2423160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96312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542032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Engine polls OpenWeatherMap &amp; IQAir every 2 minutes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89120" y="2697480"/>
            <a:ext cx="219456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90288" y="2633472"/>
            <a:ext cx="64008" cy="12801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26864" y="1280160"/>
            <a:ext cx="192024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29784" y="137160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9784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2423160"/>
            <a:ext cx="731520" cy="731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72584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718304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&gt; 50mm/hr detected in worker's GPS delivery zone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565392" y="2697480"/>
            <a:ext cx="219456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66560" y="2633472"/>
            <a:ext cx="64008" cy="12801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03136" y="1280160"/>
            <a:ext cx="192024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06056" y="137160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306056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2423160"/>
            <a:ext cx="731520" cy="7315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48856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Payout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6894576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verified → Razorpay UPI payout processed instantly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Average time from event detection to bank credit: under 90 seconds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Hyper-Local Pricing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INPUTS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274320" cy="27432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disruption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274320" cy="27432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weather patterns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274320" cy="27432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trends &amp; forecasts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794760"/>
            <a:ext cx="274320" cy="27432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active hours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434840"/>
            <a:ext cx="3840480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Classifier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017520"/>
            <a:ext cx="457200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280160"/>
            <a:ext cx="3931920" cy="356616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RISK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874520"/>
            <a:ext cx="36576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20391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+₹0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0" y="2743200"/>
            <a:ext cx="36576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907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Risk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2907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9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+₹5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0" y="3611880"/>
            <a:ext cx="36576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7764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0" y="37764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+₹10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adjustment is per worker per zone per week.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Multi-Layer Anti-Spoofing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" cy="8046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362456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Velocity Check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65960" y="16550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physically impossible movement speeds (teleportation detection)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130552"/>
            <a:ext cx="822960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30552"/>
            <a:ext cx="731520" cy="8046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130552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25856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2221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Integrity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965960" y="255117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active Mock Location Provider apps on the device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026664"/>
            <a:ext cx="822960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026664"/>
            <a:ext cx="731520" cy="8046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3026664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1546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118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Consistency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965960" y="34472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stationary IPs with rapidly shifting GPS coordinates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3922776"/>
            <a:ext cx="822960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922776"/>
            <a:ext cx="731520" cy="8046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3922776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050792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965960" y="40142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96596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instant Fraud Score → Approve / Escrow / Reject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920240" y="4663440"/>
            <a:ext cx="155448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92024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3749040" y="4663440"/>
            <a:ext cx="1554480" cy="347472"/>
          </a:xfrm>
          <a:prstGeom prst="rect">
            <a:avLst/>
          </a:prstGeom>
          <a:solidFill>
            <a:srgbClr val="FF9A5C"/>
          </a:solidFill>
          <a:ln w="12700">
            <a:solidFill>
              <a:srgbClr val="FF9A5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74904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ESCROW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577840" y="4663440"/>
            <a:ext cx="15544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57784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57200" y="4663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outcomes: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 Weekly Subscriptions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240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24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up to ₹200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Part-time, low-risk zones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Rain trigger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Zone monitoring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payout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606040" cy="3611880"/>
          </a:xfrm>
          <a:prstGeom prst="rect">
            <a:avLst/>
          </a:prstGeom>
          <a:solidFill>
            <a:srgbClr val="0B1437"/>
          </a:solidFill>
          <a:ln w="25400">
            <a:solidFill>
              <a:srgbClr val="FF6B2B"/>
            </a:solidFill>
            <a:prstDash val="solid"/>
          </a:ln>
          <a:effectLst>
            <a:outerShdw blurRad="254000" dist="762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61872"/>
            <a:ext cx="2606040" cy="38404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2618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6916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3291840" y="2651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2971800"/>
            <a:ext cx="2240280" cy="0"/>
          </a:xfrm>
          <a:prstGeom prst="line">
            <a:avLst/>
          </a:prstGeom>
          <a:noFill/>
          <a:ln w="12700">
            <a:solidFill>
              <a:srgbClr val="1E4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44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up to ₹400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3649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normal zones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7490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Rain + AQI trigger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0233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Hyper-local pricing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976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payout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45720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261872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13716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1737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126480" y="2331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651760"/>
            <a:ext cx="2240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724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up to ₹700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3044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High-earners, disruption-prone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4290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triggers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7033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risk scoring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UPI payout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251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919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aligned with weekly platform payouts — zero upfront barrier.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Scale — Modern Real-Time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09728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4416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80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25880" y="1527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(Expo)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13990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for partners on the move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02536"/>
            <a:ext cx="82296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02536"/>
            <a:ext cx="109728" cy="685800"/>
          </a:xfrm>
          <a:prstGeom prst="rect">
            <a:avLst/>
          </a:prstGeom>
          <a:solidFill>
            <a:srgbClr val="FF9A5C"/>
          </a:solidFill>
          <a:ln w="12700">
            <a:solidFill>
              <a:srgbClr val="FF9A5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1226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0482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325880" y="2295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06240" y="2167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API layer orchestrating real-time triggers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770632"/>
            <a:ext cx="82296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770632"/>
            <a:ext cx="109728" cy="6858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8036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8163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32588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Flask · Scikit-Learn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206240" y="29352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for risk scoring &amp; fraud detection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3538728"/>
            <a:ext cx="82296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538728"/>
            <a:ext cx="109728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48456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584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325880" y="3831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206240" y="3703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relational mapping of policies, claims, fraud logs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306824"/>
            <a:ext cx="82296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4306824"/>
            <a:ext cx="109728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416552"/>
            <a:ext cx="475488" cy="4754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4352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32588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OpenWeatherMap · IQAir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206240" y="44714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environmental data polled every 2 minutes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and Beyond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7498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487168"/>
            <a:ext cx="512064" cy="512064"/>
          </a:xfrm>
          <a:prstGeom prst="ellipse">
            <a:avLst/>
          </a:prstGeom>
          <a:solidFill>
            <a:srgbClr val="0B1437"/>
          </a:solidFill>
          <a:ln w="38100">
            <a:solidFill>
              <a:srgbClr val="FF6B2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4630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 Launch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950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 rider via app. Weekly plans. Core triggers.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487168"/>
            <a:ext cx="512064" cy="512064"/>
          </a:xfrm>
          <a:prstGeom prst="ellipse">
            <a:avLst/>
          </a:prstGeom>
          <a:solidFill>
            <a:srgbClr val="0B1437"/>
          </a:solidFill>
          <a:ln w="38100">
            <a:solidFill>
              <a:srgbClr val="FF6B2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71600"/>
            <a:ext cx="1463040" cy="1005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Alerts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17520" y="3950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integration. Buy insurance before the week begins.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0" y="2487168"/>
            <a:ext cx="512064" cy="512064"/>
          </a:xfrm>
          <a:prstGeom prst="ellipse">
            <a:avLst/>
          </a:prstGeom>
          <a:solidFill>
            <a:srgbClr val="0B1437"/>
          </a:solidFill>
          <a:ln w="38100">
            <a:solidFill>
              <a:srgbClr val="FF6B2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371600"/>
            <a:ext cx="1463040" cy="10058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521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(2027)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7607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B2B2C API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760720" y="3950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GigInsura into Zomato/Swiggy apps as default rider benefit.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GigInsura becomes the default safety net API for India's entire gig economy.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 Behind GigInsura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rgbClr val="132047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Satvik Chaurasia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54480" y="1965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Full Stack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60604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3258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508760"/>
            <a:ext cx="914400" cy="914400"/>
          </a:xfrm>
          <a:prstGeom prst="ellipse">
            <a:avLst/>
          </a:prstGeom>
          <a:solidFill>
            <a:srgbClr val="132047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459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0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Raghvendra Chauhan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89120" y="1965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Fraud Detection ML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325880"/>
            <a:ext cx="260604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3258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508760"/>
            <a:ext cx="914400" cy="914400"/>
          </a:xfrm>
          <a:prstGeom prst="ellipse">
            <a:avLst/>
          </a:prstGeom>
          <a:solidFill>
            <a:srgbClr val="132047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23760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Suryansh Chauhan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223760" y="1965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React Native · UX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154680"/>
            <a:ext cx="260604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1546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3337560"/>
            <a:ext cx="914400" cy="914400"/>
          </a:xfrm>
          <a:prstGeom prst="ellipse">
            <a:avLst/>
          </a:prstGeom>
          <a:solidFill>
            <a:srgbClr val="132047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7472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33558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Samarth Kesari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55448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· Risk Scoring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3154680"/>
            <a:ext cx="260604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91840" y="31546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337560"/>
            <a:ext cx="914400" cy="914400"/>
          </a:xfrm>
          <a:prstGeom prst="ellipse">
            <a:avLst/>
          </a:prstGeom>
          <a:solidFill>
            <a:srgbClr val="132047"/>
          </a:solidFill>
          <a:ln w="25400">
            <a:solidFill>
              <a:srgbClr val="00BFA5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7472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389120" y="33558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Gargi Sharma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38912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Strategy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GigInsura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200400" y="2240280"/>
            <a:ext cx="27432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work stops, income doesn't.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DEVTrails 2026 · Unicorn Chase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On-screen Show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GigInsura - Pitch Deck</dc:title>
  <dc:subject>PptxGenJS Presentation</dc:subject>
  <dc:creator>GigInsura Team</dc:creator>
  <cp:lastModifiedBy>Vanellio ⠀</cp:lastModifiedBy>
  <cp:revision>2</cp:revision>
  <dcterms:created xsi:type="dcterms:W3CDTF">2026-04-17T18:38:55Z</dcterms:created>
  <dcterms:modified xsi:type="dcterms:W3CDTF">2026-04-17T18:41:27Z</dcterms:modified>
</cp:coreProperties>
</file>